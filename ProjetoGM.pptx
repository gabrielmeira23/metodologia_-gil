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Arimo Italics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5E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47150" y="3503114"/>
            <a:ext cx="9335691" cy="181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Python: A Linguagem que Conectou o Mundo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150" y="5664251"/>
            <a:ext cx="9335691" cy="1062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Uma das linguagens de programação mais populares e versáteis da atualidade — simples de aprender, poderosa de usar.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5E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553318" y="1161755"/>
            <a:ext cx="6414792" cy="72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O Que é Python?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01323" y="4049468"/>
            <a:ext cx="4942580" cy="2055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Python é uma linguagem de programação </a:t>
            </a:r>
            <a:r>
              <a:rPr lang="en-US" sz="18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interpretada, de alto nível e propósito geral</a:t>
            </a: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, criada em 1991 por Guido van Rossum. Seu design prioriza a legibilidade do código, tornando-o acessível tanto para iniciantes quanto para especialistas.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1524743" y="8255946"/>
            <a:ext cx="4967135" cy="1310878"/>
          </a:xfrm>
          <a:custGeom>
            <a:avLst/>
            <a:gdLst/>
            <a:ahLst/>
            <a:cxnLst/>
            <a:rect l="l" t="t" r="r" b="b"/>
            <a:pathLst>
              <a:path w="4967135" h="1310878">
                <a:moveTo>
                  <a:pt x="0" y="0"/>
                </a:moveTo>
                <a:lnTo>
                  <a:pt x="4967135" y="0"/>
                </a:lnTo>
                <a:lnTo>
                  <a:pt x="4967135" y="1310878"/>
                </a:lnTo>
                <a:lnTo>
                  <a:pt x="0" y="1310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86" b="-8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01276" y="8499129"/>
            <a:ext cx="2750191" cy="36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Criador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1276" y="8914362"/>
            <a:ext cx="4328370" cy="39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Guido van Rossum, 1991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6645916" y="8255946"/>
            <a:ext cx="4967288" cy="1310878"/>
          </a:xfrm>
          <a:custGeom>
            <a:avLst/>
            <a:gdLst/>
            <a:ahLst/>
            <a:cxnLst/>
            <a:rect l="l" t="t" r="r" b="b"/>
            <a:pathLst>
              <a:path w="4967288" h="1310878">
                <a:moveTo>
                  <a:pt x="0" y="0"/>
                </a:moveTo>
                <a:lnTo>
                  <a:pt x="4967288" y="0"/>
                </a:lnTo>
                <a:lnTo>
                  <a:pt x="4967288" y="1310878"/>
                </a:lnTo>
                <a:lnTo>
                  <a:pt x="0" y="1310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87" b="-8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022459" y="8499129"/>
            <a:ext cx="2750191" cy="36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Filosofia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22459" y="8914362"/>
            <a:ext cx="4328522" cy="39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Código limpo que parece inglês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1767242" y="8255946"/>
            <a:ext cx="4967288" cy="1310878"/>
          </a:xfrm>
          <a:custGeom>
            <a:avLst/>
            <a:gdLst/>
            <a:ahLst/>
            <a:cxnLst/>
            <a:rect l="l" t="t" r="r" b="b"/>
            <a:pathLst>
              <a:path w="4967288" h="1310878">
                <a:moveTo>
                  <a:pt x="0" y="0"/>
                </a:moveTo>
                <a:lnTo>
                  <a:pt x="4967288" y="0"/>
                </a:lnTo>
                <a:lnTo>
                  <a:pt x="4967288" y="1310878"/>
                </a:lnTo>
                <a:lnTo>
                  <a:pt x="0" y="1310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87" b="-88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143784" y="8499129"/>
            <a:ext cx="2750191" cy="36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Natureza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43784" y="8914362"/>
            <a:ext cx="4328522" cy="39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Interpretada e multiplataforma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545374" y="2149678"/>
            <a:ext cx="8347072" cy="5562429"/>
            <a:chOff x="0" y="0"/>
            <a:chExt cx="11129429" cy="7416571"/>
          </a:xfrm>
        </p:grpSpPr>
        <p:sp>
          <p:nvSpPr>
            <p:cNvPr id="18" name="Freeform 18" descr="Linguagens De Programação: Quais As Melhores Empresas Usam?"/>
            <p:cNvSpPr/>
            <p:nvPr/>
          </p:nvSpPr>
          <p:spPr>
            <a:xfrm>
              <a:off x="0" y="0"/>
              <a:ext cx="11129391" cy="7416546"/>
            </a:xfrm>
            <a:custGeom>
              <a:avLst/>
              <a:gdLst/>
              <a:ahLst/>
              <a:cxnLst/>
              <a:rect l="l" t="t" r="r" b="b"/>
              <a:pathLst>
                <a:path w="11129391" h="7416546">
                  <a:moveTo>
                    <a:pt x="0" y="0"/>
                  </a:moveTo>
                  <a:lnTo>
                    <a:pt x="11129391" y="0"/>
                  </a:lnTo>
                  <a:lnTo>
                    <a:pt x="11129391" y="7416546"/>
                  </a:lnTo>
                  <a:lnTo>
                    <a:pt x="0" y="7416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5E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2707" y="1355674"/>
            <a:ext cx="8363398" cy="831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Como o Python Funciona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758526" y="2543023"/>
            <a:ext cx="12770939" cy="5844778"/>
            <a:chOff x="0" y="0"/>
            <a:chExt cx="17027919" cy="779303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7027906" cy="7792974"/>
            </a:xfrm>
            <a:custGeom>
              <a:avLst/>
              <a:gdLst/>
              <a:ahLst/>
              <a:cxnLst/>
              <a:rect l="l" t="t" r="r" b="b"/>
              <a:pathLst>
                <a:path w="17027906" h="7792974">
                  <a:moveTo>
                    <a:pt x="0" y="0"/>
                  </a:moveTo>
                  <a:lnTo>
                    <a:pt x="17027906" y="0"/>
                  </a:lnTo>
                  <a:lnTo>
                    <a:pt x="17027906" y="7792974"/>
                  </a:lnTo>
                  <a:lnTo>
                    <a:pt x="0" y="779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2" b="-2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2080062" y="6984873"/>
            <a:ext cx="2854823" cy="46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Resultado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58399" y="6984873"/>
            <a:ext cx="2854823" cy="46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Objetos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53157" y="6984873"/>
            <a:ext cx="2854823" cy="46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Interpretador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82230" y="6984873"/>
            <a:ext cx="2854823" cy="46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Código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2707" y="8588131"/>
            <a:ext cx="16422586" cy="87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0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O Python é executado por um </a:t>
            </a:r>
            <a:r>
              <a:rPr lang="en-US" sz="20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interpretador</a:t>
            </a:r>
            <a:r>
              <a:rPr lang="en-US" sz="20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que processa o código linha a linha, sem necessidade de compilação. A estrutura usa </a:t>
            </a:r>
            <a:r>
              <a:rPr lang="en-US" sz="20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indentação</a:t>
            </a:r>
            <a:r>
              <a:rPr lang="en-US" sz="20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(espaços) em vez de chaves, e sua filosofia </a:t>
            </a:r>
            <a:r>
              <a:rPr lang="en-US" sz="2000" i="1">
                <a:solidFill>
                  <a:srgbClr val="2B3541"/>
                </a:solidFill>
                <a:latin typeface="Arimo Italics"/>
                <a:ea typeface="Arimo Italics"/>
                <a:cs typeface="Arimo Italics"/>
                <a:sym typeface="Arimo Italics"/>
              </a:rPr>
              <a:t>batteries included</a:t>
            </a:r>
            <a:r>
              <a:rPr lang="en-US" sz="20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oferece uma vasta biblioteca padrão pronta para uso imediato.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5E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8191" y="1474594"/>
            <a:ext cx="8909599" cy="87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Principais Características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3429" y="2754363"/>
            <a:ext cx="8019459" cy="3199209"/>
            <a:chOff x="0" y="0"/>
            <a:chExt cx="10692613" cy="42656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92638" cy="4265549"/>
            </a:xfrm>
            <a:custGeom>
              <a:avLst/>
              <a:gdLst/>
              <a:ahLst/>
              <a:cxnLst/>
              <a:rect l="l" t="t" r="r" b="b"/>
              <a:pathLst>
                <a:path w="10692638" h="4265549">
                  <a:moveTo>
                    <a:pt x="0" y="160147"/>
                  </a:moveTo>
                  <a:cubicBezTo>
                    <a:pt x="0" y="71755"/>
                    <a:pt x="71755" y="0"/>
                    <a:pt x="160147" y="0"/>
                  </a:cubicBezTo>
                  <a:lnTo>
                    <a:pt x="10532491" y="0"/>
                  </a:lnTo>
                  <a:cubicBezTo>
                    <a:pt x="10621010" y="0"/>
                    <a:pt x="10692638" y="71755"/>
                    <a:pt x="10692638" y="160147"/>
                  </a:cubicBezTo>
                  <a:lnTo>
                    <a:pt x="10692638" y="4105402"/>
                  </a:lnTo>
                  <a:cubicBezTo>
                    <a:pt x="10692638" y="4193921"/>
                    <a:pt x="10620883" y="4265549"/>
                    <a:pt x="10532491" y="4265549"/>
                  </a:cubicBezTo>
                  <a:lnTo>
                    <a:pt x="160147" y="4265549"/>
                  </a:lnTo>
                  <a:cubicBezTo>
                    <a:pt x="71755" y="4265676"/>
                    <a:pt x="0" y="4193921"/>
                    <a:pt x="0" y="4105402"/>
                  </a:cubicBezTo>
                  <a:close/>
                </a:path>
              </a:pathLst>
            </a:custGeom>
            <a:solidFill>
              <a:srgbClr val="FAF5EB"/>
            </a:solidFill>
            <a:ln w="9526" cap="sq">
              <a:solidFill>
                <a:srgbClr val="D5CDBE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92866" y="3053801"/>
            <a:ext cx="855459" cy="855459"/>
            <a:chOff x="0" y="0"/>
            <a:chExt cx="1140612" cy="11406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0587" cy="1140587"/>
            </a:xfrm>
            <a:custGeom>
              <a:avLst/>
              <a:gdLst/>
              <a:ahLst/>
              <a:cxnLst/>
              <a:rect l="l" t="t" r="r" b="b"/>
              <a:pathLst>
                <a:path w="1140587" h="1140587">
                  <a:moveTo>
                    <a:pt x="0" y="570357"/>
                  </a:moveTo>
                  <a:cubicBezTo>
                    <a:pt x="0" y="255397"/>
                    <a:pt x="255397" y="0"/>
                    <a:pt x="570357" y="0"/>
                  </a:cubicBezTo>
                  <a:cubicBezTo>
                    <a:pt x="885317" y="0"/>
                    <a:pt x="1140587" y="255397"/>
                    <a:pt x="1140587" y="570357"/>
                  </a:cubicBezTo>
                  <a:cubicBezTo>
                    <a:pt x="1140587" y="885317"/>
                    <a:pt x="885317" y="1140587"/>
                    <a:pt x="570357" y="1140587"/>
                  </a:cubicBezTo>
                  <a:cubicBezTo>
                    <a:pt x="255397" y="1140587"/>
                    <a:pt x="0" y="885317"/>
                    <a:pt x="0" y="570357"/>
                  </a:cubicBezTo>
                  <a:close/>
                </a:path>
              </a:pathLst>
            </a:custGeom>
            <a:solidFill>
              <a:srgbClr val="3371A5"/>
            </a:solidFill>
          </p:spPr>
        </p:sp>
      </p:grpSp>
      <p:sp>
        <p:nvSpPr>
          <p:cNvPr id="11" name="Freeform 11" descr="preencoded.png"/>
          <p:cNvSpPr/>
          <p:nvPr/>
        </p:nvSpPr>
        <p:spPr>
          <a:xfrm>
            <a:off x="1528020" y="3288954"/>
            <a:ext cx="385020" cy="385020"/>
          </a:xfrm>
          <a:custGeom>
            <a:avLst/>
            <a:gdLst/>
            <a:ahLst/>
            <a:cxnLst/>
            <a:rect l="l" t="t" r="r" b="b"/>
            <a:pathLst>
              <a:path w="385020" h="385020">
                <a:moveTo>
                  <a:pt x="0" y="0"/>
                </a:moveTo>
                <a:lnTo>
                  <a:pt x="385019" y="0"/>
                </a:lnTo>
                <a:lnTo>
                  <a:pt x="385019" y="385019"/>
                </a:lnTo>
                <a:lnTo>
                  <a:pt x="0" y="38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219" b="-121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92866" y="4152452"/>
            <a:ext cx="4165844" cy="44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Tipagem Dinâmica e Forte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2866" y="4667993"/>
            <a:ext cx="7420566" cy="98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Tipos definidos em tempo de execução, com rigor nas operações.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75121" y="2754363"/>
            <a:ext cx="8019459" cy="3199209"/>
            <a:chOff x="0" y="0"/>
            <a:chExt cx="10692613" cy="42656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92638" cy="4265549"/>
            </a:xfrm>
            <a:custGeom>
              <a:avLst/>
              <a:gdLst/>
              <a:ahLst/>
              <a:cxnLst/>
              <a:rect l="l" t="t" r="r" b="b"/>
              <a:pathLst>
                <a:path w="10692638" h="4265549">
                  <a:moveTo>
                    <a:pt x="0" y="160147"/>
                  </a:moveTo>
                  <a:cubicBezTo>
                    <a:pt x="0" y="71755"/>
                    <a:pt x="71755" y="0"/>
                    <a:pt x="160147" y="0"/>
                  </a:cubicBezTo>
                  <a:lnTo>
                    <a:pt x="10532491" y="0"/>
                  </a:lnTo>
                  <a:cubicBezTo>
                    <a:pt x="10621010" y="0"/>
                    <a:pt x="10692638" y="71755"/>
                    <a:pt x="10692638" y="160147"/>
                  </a:cubicBezTo>
                  <a:lnTo>
                    <a:pt x="10692638" y="4105402"/>
                  </a:lnTo>
                  <a:cubicBezTo>
                    <a:pt x="10692638" y="4193921"/>
                    <a:pt x="10620883" y="4265549"/>
                    <a:pt x="10532491" y="4265549"/>
                  </a:cubicBezTo>
                  <a:lnTo>
                    <a:pt x="160147" y="4265549"/>
                  </a:lnTo>
                  <a:cubicBezTo>
                    <a:pt x="71755" y="4265676"/>
                    <a:pt x="0" y="4193921"/>
                    <a:pt x="0" y="4105402"/>
                  </a:cubicBezTo>
                  <a:close/>
                </a:path>
              </a:pathLst>
            </a:custGeom>
            <a:solidFill>
              <a:srgbClr val="FAF5EB"/>
            </a:solidFill>
            <a:ln w="9526" cap="sq">
              <a:solidFill>
                <a:srgbClr val="D5CDBE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574559" y="3053801"/>
            <a:ext cx="855459" cy="855459"/>
            <a:chOff x="0" y="0"/>
            <a:chExt cx="1140612" cy="11406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0587" cy="1140587"/>
            </a:xfrm>
            <a:custGeom>
              <a:avLst/>
              <a:gdLst/>
              <a:ahLst/>
              <a:cxnLst/>
              <a:rect l="l" t="t" r="r" b="b"/>
              <a:pathLst>
                <a:path w="1140587" h="1140587">
                  <a:moveTo>
                    <a:pt x="0" y="570357"/>
                  </a:moveTo>
                  <a:cubicBezTo>
                    <a:pt x="0" y="255397"/>
                    <a:pt x="255397" y="0"/>
                    <a:pt x="570357" y="0"/>
                  </a:cubicBezTo>
                  <a:cubicBezTo>
                    <a:pt x="885317" y="0"/>
                    <a:pt x="1140587" y="255397"/>
                    <a:pt x="1140587" y="570357"/>
                  </a:cubicBezTo>
                  <a:cubicBezTo>
                    <a:pt x="1140587" y="885317"/>
                    <a:pt x="885317" y="1140587"/>
                    <a:pt x="570357" y="1140587"/>
                  </a:cubicBezTo>
                  <a:cubicBezTo>
                    <a:pt x="255397" y="1140587"/>
                    <a:pt x="0" y="885317"/>
                    <a:pt x="0" y="570357"/>
                  </a:cubicBezTo>
                  <a:close/>
                </a:path>
              </a:pathLst>
            </a:custGeom>
            <a:solidFill>
              <a:srgbClr val="3371A5"/>
            </a:solidFill>
          </p:spPr>
        </p:sp>
      </p:grpSp>
      <p:sp>
        <p:nvSpPr>
          <p:cNvPr id="18" name="Freeform 18" descr="preencoded.png"/>
          <p:cNvSpPr/>
          <p:nvPr/>
        </p:nvSpPr>
        <p:spPr>
          <a:xfrm>
            <a:off x="9809712" y="3288954"/>
            <a:ext cx="385020" cy="385020"/>
          </a:xfrm>
          <a:custGeom>
            <a:avLst/>
            <a:gdLst/>
            <a:ahLst/>
            <a:cxnLst/>
            <a:rect l="l" t="t" r="r" b="b"/>
            <a:pathLst>
              <a:path w="385020" h="385020">
                <a:moveTo>
                  <a:pt x="0" y="0"/>
                </a:moveTo>
                <a:lnTo>
                  <a:pt x="385019" y="0"/>
                </a:lnTo>
                <a:lnTo>
                  <a:pt x="385019" y="385019"/>
                </a:lnTo>
                <a:lnTo>
                  <a:pt x="0" y="38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574559" y="4152452"/>
            <a:ext cx="3355181" cy="44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Multiparadigma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74559" y="4667993"/>
            <a:ext cx="7420566" cy="98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Suporta programação procedural, funcional e orientada a objetos.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93429" y="6215805"/>
            <a:ext cx="8019459" cy="3199209"/>
            <a:chOff x="0" y="0"/>
            <a:chExt cx="10692613" cy="42656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692638" cy="4265549"/>
            </a:xfrm>
            <a:custGeom>
              <a:avLst/>
              <a:gdLst/>
              <a:ahLst/>
              <a:cxnLst/>
              <a:rect l="l" t="t" r="r" b="b"/>
              <a:pathLst>
                <a:path w="10692638" h="4265549">
                  <a:moveTo>
                    <a:pt x="0" y="160147"/>
                  </a:moveTo>
                  <a:cubicBezTo>
                    <a:pt x="0" y="71755"/>
                    <a:pt x="71755" y="0"/>
                    <a:pt x="160147" y="0"/>
                  </a:cubicBezTo>
                  <a:lnTo>
                    <a:pt x="10532491" y="0"/>
                  </a:lnTo>
                  <a:cubicBezTo>
                    <a:pt x="10621010" y="0"/>
                    <a:pt x="10692638" y="71755"/>
                    <a:pt x="10692638" y="160147"/>
                  </a:cubicBezTo>
                  <a:lnTo>
                    <a:pt x="10692638" y="4105402"/>
                  </a:lnTo>
                  <a:cubicBezTo>
                    <a:pt x="10692638" y="4193921"/>
                    <a:pt x="10620883" y="4265549"/>
                    <a:pt x="10532491" y="4265549"/>
                  </a:cubicBezTo>
                  <a:lnTo>
                    <a:pt x="160147" y="4265549"/>
                  </a:lnTo>
                  <a:cubicBezTo>
                    <a:pt x="71755" y="4265676"/>
                    <a:pt x="0" y="4193921"/>
                    <a:pt x="0" y="4105402"/>
                  </a:cubicBezTo>
                  <a:close/>
                </a:path>
              </a:pathLst>
            </a:custGeom>
            <a:solidFill>
              <a:srgbClr val="FAF5EB"/>
            </a:solidFill>
            <a:ln w="9526" cap="sq">
              <a:solidFill>
                <a:srgbClr val="D5CDBE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292866" y="6515252"/>
            <a:ext cx="855459" cy="855459"/>
            <a:chOff x="0" y="0"/>
            <a:chExt cx="1140612" cy="11406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40587" cy="1140587"/>
            </a:xfrm>
            <a:custGeom>
              <a:avLst/>
              <a:gdLst/>
              <a:ahLst/>
              <a:cxnLst/>
              <a:rect l="l" t="t" r="r" b="b"/>
              <a:pathLst>
                <a:path w="1140587" h="1140587">
                  <a:moveTo>
                    <a:pt x="0" y="570357"/>
                  </a:moveTo>
                  <a:cubicBezTo>
                    <a:pt x="0" y="255397"/>
                    <a:pt x="255397" y="0"/>
                    <a:pt x="570357" y="0"/>
                  </a:cubicBezTo>
                  <a:cubicBezTo>
                    <a:pt x="885317" y="0"/>
                    <a:pt x="1140587" y="255397"/>
                    <a:pt x="1140587" y="570357"/>
                  </a:cubicBezTo>
                  <a:cubicBezTo>
                    <a:pt x="1140587" y="885317"/>
                    <a:pt x="885317" y="1140587"/>
                    <a:pt x="570357" y="1140587"/>
                  </a:cubicBezTo>
                  <a:cubicBezTo>
                    <a:pt x="255397" y="1140587"/>
                    <a:pt x="0" y="885317"/>
                    <a:pt x="0" y="570357"/>
                  </a:cubicBezTo>
                  <a:close/>
                </a:path>
              </a:pathLst>
            </a:custGeom>
            <a:solidFill>
              <a:srgbClr val="3371A5"/>
            </a:solidFill>
          </p:spPr>
        </p:sp>
      </p:grpSp>
      <p:sp>
        <p:nvSpPr>
          <p:cNvPr id="25" name="Freeform 25" descr="preencoded.png"/>
          <p:cNvSpPr/>
          <p:nvPr/>
        </p:nvSpPr>
        <p:spPr>
          <a:xfrm>
            <a:off x="1528020" y="6750396"/>
            <a:ext cx="385020" cy="385020"/>
          </a:xfrm>
          <a:custGeom>
            <a:avLst/>
            <a:gdLst/>
            <a:ahLst/>
            <a:cxnLst/>
            <a:rect l="l" t="t" r="r" b="b"/>
            <a:pathLst>
              <a:path w="385020" h="385020">
                <a:moveTo>
                  <a:pt x="0" y="0"/>
                </a:moveTo>
                <a:lnTo>
                  <a:pt x="385019" y="0"/>
                </a:lnTo>
                <a:lnTo>
                  <a:pt x="385019" y="385020"/>
                </a:lnTo>
                <a:lnTo>
                  <a:pt x="0" y="385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92866" y="7613894"/>
            <a:ext cx="3355181" cy="44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Comunidade Global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92866" y="8129435"/>
            <a:ext cx="7420566" cy="98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Ecossistema enorme com bibliotecas para quase qualquer tarefa.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275121" y="6215805"/>
            <a:ext cx="8019459" cy="3199209"/>
            <a:chOff x="0" y="0"/>
            <a:chExt cx="10692613" cy="426561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692638" cy="4265549"/>
            </a:xfrm>
            <a:custGeom>
              <a:avLst/>
              <a:gdLst/>
              <a:ahLst/>
              <a:cxnLst/>
              <a:rect l="l" t="t" r="r" b="b"/>
              <a:pathLst>
                <a:path w="10692638" h="4265549">
                  <a:moveTo>
                    <a:pt x="0" y="160147"/>
                  </a:moveTo>
                  <a:cubicBezTo>
                    <a:pt x="0" y="71755"/>
                    <a:pt x="71755" y="0"/>
                    <a:pt x="160147" y="0"/>
                  </a:cubicBezTo>
                  <a:lnTo>
                    <a:pt x="10532491" y="0"/>
                  </a:lnTo>
                  <a:cubicBezTo>
                    <a:pt x="10621010" y="0"/>
                    <a:pt x="10692638" y="71755"/>
                    <a:pt x="10692638" y="160147"/>
                  </a:cubicBezTo>
                  <a:lnTo>
                    <a:pt x="10692638" y="4105402"/>
                  </a:lnTo>
                  <a:cubicBezTo>
                    <a:pt x="10692638" y="4193921"/>
                    <a:pt x="10620883" y="4265549"/>
                    <a:pt x="10532491" y="4265549"/>
                  </a:cubicBezTo>
                  <a:lnTo>
                    <a:pt x="160147" y="4265549"/>
                  </a:lnTo>
                  <a:cubicBezTo>
                    <a:pt x="71755" y="4265676"/>
                    <a:pt x="0" y="4193921"/>
                    <a:pt x="0" y="4105402"/>
                  </a:cubicBezTo>
                  <a:close/>
                </a:path>
              </a:pathLst>
            </a:custGeom>
            <a:solidFill>
              <a:srgbClr val="FAF5EB"/>
            </a:solidFill>
            <a:ln w="9526" cap="sq">
              <a:solidFill>
                <a:srgbClr val="D5CDBE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9574559" y="6515252"/>
            <a:ext cx="855459" cy="855459"/>
            <a:chOff x="0" y="0"/>
            <a:chExt cx="1140612" cy="114061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40587" cy="1140587"/>
            </a:xfrm>
            <a:custGeom>
              <a:avLst/>
              <a:gdLst/>
              <a:ahLst/>
              <a:cxnLst/>
              <a:rect l="l" t="t" r="r" b="b"/>
              <a:pathLst>
                <a:path w="1140587" h="1140587">
                  <a:moveTo>
                    <a:pt x="0" y="570357"/>
                  </a:moveTo>
                  <a:cubicBezTo>
                    <a:pt x="0" y="255397"/>
                    <a:pt x="255397" y="0"/>
                    <a:pt x="570357" y="0"/>
                  </a:cubicBezTo>
                  <a:cubicBezTo>
                    <a:pt x="885317" y="0"/>
                    <a:pt x="1140587" y="255397"/>
                    <a:pt x="1140587" y="570357"/>
                  </a:cubicBezTo>
                  <a:cubicBezTo>
                    <a:pt x="1140587" y="885317"/>
                    <a:pt x="885317" y="1140587"/>
                    <a:pt x="570357" y="1140587"/>
                  </a:cubicBezTo>
                  <a:cubicBezTo>
                    <a:pt x="255397" y="1140587"/>
                    <a:pt x="0" y="885317"/>
                    <a:pt x="0" y="570357"/>
                  </a:cubicBezTo>
                  <a:close/>
                </a:path>
              </a:pathLst>
            </a:custGeom>
            <a:solidFill>
              <a:srgbClr val="3371A5"/>
            </a:solidFill>
          </p:spPr>
        </p:sp>
      </p:grpSp>
      <p:sp>
        <p:nvSpPr>
          <p:cNvPr id="32" name="Freeform 32" descr="preencoded.png"/>
          <p:cNvSpPr/>
          <p:nvPr/>
        </p:nvSpPr>
        <p:spPr>
          <a:xfrm>
            <a:off x="9809712" y="6750396"/>
            <a:ext cx="385020" cy="385020"/>
          </a:xfrm>
          <a:custGeom>
            <a:avLst/>
            <a:gdLst/>
            <a:ahLst/>
            <a:cxnLst/>
            <a:rect l="l" t="t" r="r" b="b"/>
            <a:pathLst>
              <a:path w="385020" h="385020">
                <a:moveTo>
                  <a:pt x="0" y="0"/>
                </a:moveTo>
                <a:lnTo>
                  <a:pt x="385019" y="0"/>
                </a:lnTo>
                <a:lnTo>
                  <a:pt x="385019" y="385020"/>
                </a:lnTo>
                <a:lnTo>
                  <a:pt x="0" y="3850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219" b="-1219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9574559" y="7613894"/>
            <a:ext cx="3563245" cy="44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Gerenciamento via pip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74559" y="8129435"/>
            <a:ext cx="7420566" cy="98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Instalação e gestão de pacotes simplificada com o comando pip.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5E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6334" y="1328442"/>
            <a:ext cx="7074846" cy="80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Exemplos de Código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6334" y="2689917"/>
            <a:ext cx="3994547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Condicional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6334" y="3351609"/>
            <a:ext cx="5344116" cy="1701403"/>
            <a:chOff x="0" y="0"/>
            <a:chExt cx="7125487" cy="2268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25462" cy="2268474"/>
            </a:xfrm>
            <a:custGeom>
              <a:avLst/>
              <a:gdLst/>
              <a:ahLst/>
              <a:cxnLst/>
              <a:rect l="l" t="t" r="r" b="b"/>
              <a:pathLst>
                <a:path w="7125462" h="2268474">
                  <a:moveTo>
                    <a:pt x="0" y="146558"/>
                  </a:moveTo>
                  <a:cubicBezTo>
                    <a:pt x="0" y="65659"/>
                    <a:pt x="65659" y="0"/>
                    <a:pt x="146558" y="0"/>
                  </a:cubicBezTo>
                  <a:lnTo>
                    <a:pt x="6978904" y="0"/>
                  </a:lnTo>
                  <a:cubicBezTo>
                    <a:pt x="7059930" y="0"/>
                    <a:pt x="7125462" y="65659"/>
                    <a:pt x="7125462" y="146558"/>
                  </a:cubicBezTo>
                  <a:lnTo>
                    <a:pt x="7125462" y="2121916"/>
                  </a:lnTo>
                  <a:cubicBezTo>
                    <a:pt x="7125462" y="2202942"/>
                    <a:pt x="7059803" y="2268474"/>
                    <a:pt x="6978904" y="2268474"/>
                  </a:cubicBezTo>
                  <a:lnTo>
                    <a:pt x="146558" y="2268474"/>
                  </a:lnTo>
                  <a:cubicBezTo>
                    <a:pt x="65659" y="2268601"/>
                    <a:pt x="0" y="2202942"/>
                    <a:pt x="0" y="2121916"/>
                  </a:cubicBezTo>
                  <a:close/>
                </a:path>
              </a:pathLst>
            </a:custGeom>
            <a:solidFill>
              <a:srgbClr val="EDE8D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03389" y="3351609"/>
            <a:ext cx="5370014" cy="1701403"/>
            <a:chOff x="0" y="0"/>
            <a:chExt cx="7160019" cy="22685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60006" cy="2268474"/>
            </a:xfrm>
            <a:custGeom>
              <a:avLst/>
              <a:gdLst/>
              <a:ahLst/>
              <a:cxnLst/>
              <a:rect l="l" t="t" r="r" b="b"/>
              <a:pathLst>
                <a:path w="7160006" h="2268474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7107682" y="0"/>
                  </a:lnTo>
                  <a:cubicBezTo>
                    <a:pt x="7136638" y="0"/>
                    <a:pt x="7160006" y="23495"/>
                    <a:pt x="7160006" y="52324"/>
                  </a:cubicBezTo>
                  <a:lnTo>
                    <a:pt x="7160006" y="2216150"/>
                  </a:lnTo>
                  <a:cubicBezTo>
                    <a:pt x="7160006" y="2245106"/>
                    <a:pt x="7136511" y="2268474"/>
                    <a:pt x="7107682" y="2268474"/>
                  </a:cubicBezTo>
                  <a:lnTo>
                    <a:pt x="52324" y="2268474"/>
                  </a:lnTo>
                  <a:cubicBezTo>
                    <a:pt x="23368" y="2268474"/>
                    <a:pt x="0" y="2244979"/>
                    <a:pt x="0" y="2216150"/>
                  </a:cubicBezTo>
                  <a:close/>
                </a:path>
              </a:pathLst>
            </a:custGeom>
            <a:solidFill>
              <a:srgbClr val="EDE8DE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230659" y="3508619"/>
            <a:ext cx="4715466" cy="1282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B3541"/>
                </a:solidFill>
                <a:latin typeface="Consolas"/>
                <a:ea typeface="Consolas"/>
                <a:cs typeface="Consolas"/>
                <a:sym typeface="Consolas"/>
              </a:rPr>
              <a:t>idade = 18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B3541"/>
                </a:solidFill>
                <a:latin typeface="Consolas"/>
                <a:ea typeface="Consolas"/>
                <a:cs typeface="Consolas"/>
                <a:sym typeface="Consolas"/>
              </a:rPr>
              <a:t>if idade &gt;= 18: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B3541"/>
                </a:solidFill>
                <a:latin typeface="Consolas"/>
                <a:ea typeface="Consolas"/>
                <a:cs typeface="Consolas"/>
                <a:sym typeface="Consolas"/>
              </a:rPr>
              <a:t>    print("Maior de idade")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6334" y="5291585"/>
            <a:ext cx="4455166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Operações Matemáticas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16334" y="5953277"/>
            <a:ext cx="5344116" cy="3271838"/>
            <a:chOff x="0" y="0"/>
            <a:chExt cx="7125487" cy="43624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25589" cy="4362577"/>
            </a:xfrm>
            <a:custGeom>
              <a:avLst/>
              <a:gdLst/>
              <a:ahLst/>
              <a:cxnLst/>
              <a:rect l="l" t="t" r="r" b="b"/>
              <a:pathLst>
                <a:path w="7125589" h="4362577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6978904" y="0"/>
                  </a:lnTo>
                  <a:cubicBezTo>
                    <a:pt x="7059930" y="0"/>
                    <a:pt x="7125589" y="65659"/>
                    <a:pt x="7125589" y="146685"/>
                  </a:cubicBezTo>
                  <a:lnTo>
                    <a:pt x="7125589" y="4215892"/>
                  </a:lnTo>
                  <a:cubicBezTo>
                    <a:pt x="7125589" y="4296918"/>
                    <a:pt x="7059930" y="4362577"/>
                    <a:pt x="6978904" y="4362577"/>
                  </a:cubicBezTo>
                  <a:lnTo>
                    <a:pt x="146685" y="4362577"/>
                  </a:lnTo>
                  <a:cubicBezTo>
                    <a:pt x="65659" y="4362450"/>
                    <a:pt x="0" y="4296791"/>
                    <a:pt x="0" y="4215892"/>
                  </a:cubicBezTo>
                  <a:close/>
                </a:path>
              </a:pathLst>
            </a:custGeom>
            <a:solidFill>
              <a:srgbClr val="EDE8DE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03389" y="5953277"/>
            <a:ext cx="5370014" cy="3271838"/>
            <a:chOff x="0" y="0"/>
            <a:chExt cx="7160019" cy="43624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60006" cy="4362450"/>
            </a:xfrm>
            <a:custGeom>
              <a:avLst/>
              <a:gdLst/>
              <a:ahLst/>
              <a:cxnLst/>
              <a:rect l="l" t="t" r="r" b="b"/>
              <a:pathLst>
                <a:path w="7160006" h="4362450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7107682" y="0"/>
                  </a:lnTo>
                  <a:cubicBezTo>
                    <a:pt x="7136638" y="0"/>
                    <a:pt x="7160006" y="23495"/>
                    <a:pt x="7160006" y="52324"/>
                  </a:cubicBezTo>
                  <a:lnTo>
                    <a:pt x="7160006" y="4310126"/>
                  </a:lnTo>
                  <a:cubicBezTo>
                    <a:pt x="7160006" y="4339082"/>
                    <a:pt x="7136511" y="4362450"/>
                    <a:pt x="7107682" y="4362450"/>
                  </a:cubicBezTo>
                  <a:lnTo>
                    <a:pt x="52324" y="4362450"/>
                  </a:lnTo>
                  <a:cubicBezTo>
                    <a:pt x="23368" y="4362450"/>
                    <a:pt x="0" y="4338955"/>
                    <a:pt x="0" y="4310126"/>
                  </a:cubicBezTo>
                  <a:close/>
                </a:path>
              </a:pathLst>
            </a:custGeom>
            <a:solidFill>
              <a:srgbClr val="EDE8DE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30659" y="6119812"/>
            <a:ext cx="4715466" cy="284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850">
                <a:solidFill>
                  <a:srgbClr val="2B3541"/>
                </a:solidFill>
                <a:latin typeface="Consolas"/>
                <a:ea typeface="Consolas"/>
                <a:cs typeface="Consolas"/>
                <a:sym typeface="Consolas"/>
              </a:rPr>
              <a:t>soma = 10 + 5</a:t>
            </a:r>
          </a:p>
          <a:p>
            <a:pPr algn="l">
              <a:lnSpc>
                <a:spcPts val="2775"/>
              </a:lnSpc>
            </a:pPr>
            <a:r>
              <a:rPr lang="en-US" sz="1850">
                <a:solidFill>
                  <a:srgbClr val="2B3541"/>
                </a:solidFill>
                <a:latin typeface="Consolas"/>
                <a:ea typeface="Consolas"/>
                <a:cs typeface="Consolas"/>
                <a:sym typeface="Consolas"/>
              </a:rPr>
              <a:t>multiplicacao = 4 * 6</a:t>
            </a:r>
          </a:p>
          <a:p>
            <a:pPr algn="l">
              <a:lnSpc>
                <a:spcPts val="2775"/>
              </a:lnSpc>
            </a:pPr>
            <a:r>
              <a:rPr lang="en-US" sz="1850">
                <a:solidFill>
                  <a:srgbClr val="2B3541"/>
                </a:solidFill>
                <a:latin typeface="Consolas"/>
                <a:ea typeface="Consolas"/>
                <a:cs typeface="Consolas"/>
                <a:sym typeface="Consolas"/>
              </a:rPr>
              <a:t>divisao = 20 / 4</a:t>
            </a:r>
          </a:p>
          <a:p>
            <a:pPr algn="l">
              <a:lnSpc>
                <a:spcPts val="2775"/>
              </a:lnSpc>
            </a:pPr>
            <a:endParaRPr lang="en-US" sz="1850">
              <a:solidFill>
                <a:srgbClr val="2B354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2775"/>
              </a:lnSpc>
            </a:pPr>
            <a:r>
              <a:rPr lang="en-US" sz="1850">
                <a:solidFill>
                  <a:srgbClr val="2B3541"/>
                </a:solidFill>
                <a:latin typeface="Consolas"/>
                <a:ea typeface="Consolas"/>
                <a:cs typeface="Consolas"/>
                <a:sym typeface="Consolas"/>
              </a:rPr>
              <a:t>print("Soma:", soma)</a:t>
            </a:r>
          </a:p>
          <a:p>
            <a:pPr algn="l">
              <a:lnSpc>
                <a:spcPts val="2775"/>
              </a:lnSpc>
            </a:pPr>
            <a:r>
              <a:rPr lang="en-US" sz="1850">
                <a:solidFill>
                  <a:srgbClr val="2B3541"/>
                </a:solidFill>
                <a:latin typeface="Consolas"/>
                <a:ea typeface="Consolas"/>
                <a:cs typeface="Consolas"/>
                <a:sym typeface="Consolas"/>
              </a:rPr>
              <a:t>print("Multiplicação:", multiplicacao)</a:t>
            </a:r>
          </a:p>
          <a:p>
            <a:pPr algn="l">
              <a:lnSpc>
                <a:spcPts val="2775"/>
              </a:lnSpc>
            </a:pPr>
            <a:r>
              <a:rPr lang="en-US" sz="1850">
                <a:solidFill>
                  <a:srgbClr val="2B3541"/>
                </a:solidFill>
                <a:latin typeface="Consolas"/>
                <a:ea typeface="Consolas"/>
                <a:cs typeface="Consolas"/>
                <a:sym typeface="Consolas"/>
              </a:rPr>
              <a:t>print("Divisão:", divisao)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8011BE-CE08-2713-F0BD-2F4B16FA9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713" y="2891952"/>
            <a:ext cx="9753600" cy="651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5E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47150" y="2872683"/>
            <a:ext cx="7955013" cy="93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Áreas de Aplicação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150" y="4258570"/>
            <a:ext cx="2185245" cy="1350464"/>
            <a:chOff x="0" y="0"/>
            <a:chExt cx="2913659" cy="180061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2913634" cy="1800606"/>
            </a:xfrm>
            <a:custGeom>
              <a:avLst/>
              <a:gdLst/>
              <a:ahLst/>
              <a:cxnLst/>
              <a:rect l="l" t="t" r="r" b="b"/>
              <a:pathLst>
                <a:path w="2913634" h="1800606">
                  <a:moveTo>
                    <a:pt x="0" y="0"/>
                  </a:moveTo>
                  <a:lnTo>
                    <a:pt x="2913634" y="0"/>
                  </a:lnTo>
                  <a:lnTo>
                    <a:pt x="2913634" y="1800606"/>
                  </a:lnTo>
                  <a:lnTo>
                    <a:pt x="0" y="1800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9" b="-170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47150" y="5954468"/>
            <a:ext cx="3698377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IA e Machine Learning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150" y="6497688"/>
            <a:ext cx="3767880" cy="154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Base de frameworks como TensorFlow e PyTorch. Usado pela OpenAI.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189039" y="4258570"/>
            <a:ext cx="2185245" cy="1350464"/>
            <a:chOff x="0" y="0"/>
            <a:chExt cx="2913659" cy="1800619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2913634" cy="1800606"/>
            </a:xfrm>
            <a:custGeom>
              <a:avLst/>
              <a:gdLst/>
              <a:ahLst/>
              <a:cxnLst/>
              <a:rect l="l" t="t" r="r" b="b"/>
              <a:pathLst>
                <a:path w="2913634" h="1800606">
                  <a:moveTo>
                    <a:pt x="0" y="0"/>
                  </a:moveTo>
                  <a:lnTo>
                    <a:pt x="2913634" y="0"/>
                  </a:lnTo>
                  <a:lnTo>
                    <a:pt x="2913634" y="1800606"/>
                  </a:lnTo>
                  <a:lnTo>
                    <a:pt x="0" y="1800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69" b="-170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5189039" y="5954468"/>
            <a:ext cx="3707759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Desenvolvimento Web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89039" y="6497688"/>
            <a:ext cx="3767880" cy="154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Instagram e Reddit foram construídos com Django, framework Python.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30928" y="4258570"/>
            <a:ext cx="2185245" cy="1350464"/>
            <a:chOff x="0" y="0"/>
            <a:chExt cx="2913659" cy="1800619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2913634" cy="1800606"/>
            </a:xfrm>
            <a:custGeom>
              <a:avLst/>
              <a:gdLst/>
              <a:ahLst/>
              <a:cxnLst/>
              <a:rect l="l" t="t" r="r" b="b"/>
              <a:pathLst>
                <a:path w="2913634" h="1800606">
                  <a:moveTo>
                    <a:pt x="0" y="0"/>
                  </a:moveTo>
                  <a:lnTo>
                    <a:pt x="2913634" y="0"/>
                  </a:lnTo>
                  <a:lnTo>
                    <a:pt x="2913634" y="1800606"/>
                  </a:lnTo>
                  <a:lnTo>
                    <a:pt x="0" y="1800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69" b="-170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330928" y="5954468"/>
            <a:ext cx="3520230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Ciência de Dados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30928" y="6497688"/>
            <a:ext cx="3767880" cy="154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Pandas e NumPy são ferramentas essenciais para análise de dados.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472817" y="4258570"/>
            <a:ext cx="2185387" cy="1350616"/>
            <a:chOff x="0" y="0"/>
            <a:chExt cx="2913850" cy="180082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2913888" cy="1800860"/>
            </a:xfrm>
            <a:custGeom>
              <a:avLst/>
              <a:gdLst/>
              <a:ahLst/>
              <a:cxnLst/>
              <a:rect l="l" t="t" r="r" b="b"/>
              <a:pathLst>
                <a:path w="2913888" h="1800860">
                  <a:moveTo>
                    <a:pt x="0" y="0"/>
                  </a:moveTo>
                  <a:lnTo>
                    <a:pt x="2913888" y="0"/>
                  </a:lnTo>
                  <a:lnTo>
                    <a:pt x="2913888" y="1800860"/>
                  </a:lnTo>
                  <a:lnTo>
                    <a:pt x="0" y="1800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67" r="1" b="-165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3472817" y="5954611"/>
            <a:ext cx="3520230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Automação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72817" y="6497831"/>
            <a:ext cx="3768033" cy="154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Scripts para automatizar tarefas repetitivas e operações de sistema.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5E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47150" y="2828030"/>
            <a:ext cx="9932194" cy="93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Vantagens e Desvantagens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31799" y="4213917"/>
            <a:ext cx="8162630" cy="3869684"/>
            <a:chOff x="0" y="0"/>
            <a:chExt cx="10883506" cy="51595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83519" cy="5159629"/>
            </a:xfrm>
            <a:custGeom>
              <a:avLst/>
              <a:gdLst/>
              <a:ahLst/>
              <a:cxnLst/>
              <a:rect l="l" t="t" r="r" b="b"/>
              <a:pathLst>
                <a:path w="10883519" h="5159629">
                  <a:moveTo>
                    <a:pt x="0" y="287274"/>
                  </a:moveTo>
                  <a:cubicBezTo>
                    <a:pt x="0" y="128651"/>
                    <a:pt x="128651" y="0"/>
                    <a:pt x="287274" y="0"/>
                  </a:cubicBezTo>
                  <a:lnTo>
                    <a:pt x="10596245" y="0"/>
                  </a:lnTo>
                  <a:cubicBezTo>
                    <a:pt x="10754868" y="0"/>
                    <a:pt x="10883519" y="128651"/>
                    <a:pt x="10883519" y="287274"/>
                  </a:cubicBezTo>
                  <a:lnTo>
                    <a:pt x="10883519" y="4872355"/>
                  </a:lnTo>
                  <a:cubicBezTo>
                    <a:pt x="10883519" y="5030978"/>
                    <a:pt x="10754868" y="5159629"/>
                    <a:pt x="10596245" y="5159629"/>
                  </a:cubicBezTo>
                  <a:lnTo>
                    <a:pt x="287274" y="5159629"/>
                  </a:lnTo>
                  <a:cubicBezTo>
                    <a:pt x="128651" y="5159629"/>
                    <a:pt x="0" y="5030978"/>
                    <a:pt x="0" y="4872355"/>
                  </a:cubicBezTo>
                  <a:close/>
                </a:path>
              </a:pathLst>
            </a:custGeom>
            <a:solidFill>
              <a:srgbClr val="3371A5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130941" y="4484484"/>
            <a:ext cx="4434630" cy="48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</a:t>
            </a: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Vantagens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0941" y="5166417"/>
            <a:ext cx="7564336" cy="233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Curva de aprendizado rápida e acessível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Alta produtividade no desenvolvimento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Documentação rica e comunidade ativa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Versatilidade: web, dados, IA, automação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18456" y="4484484"/>
            <a:ext cx="4434630" cy="48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      Desvantagens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18456" y="5166417"/>
            <a:ext cx="7731919" cy="2812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Velocidade inferior a linguagens compiladas (C/C++)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Alto consumo de memória em certas operações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Limitado para desenvolvimento mobile nativo</a:t>
            </a:r>
          </a:p>
          <a:p>
            <a:pPr marL="554990" lvl="1" indent="-277495" algn="l">
              <a:lnSpc>
                <a:spcPts val="3670"/>
              </a:lnSpc>
              <a:buFont typeface="Arial"/>
              <a:buChar char="•"/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Interpretação dinâmica pode ocultar erros em tempo de execução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5E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47150" y="2886666"/>
            <a:ext cx="10700595" cy="93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Gigantes que Utilizam Python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047150" y="4272563"/>
            <a:ext cx="748008" cy="748008"/>
          </a:xfrm>
          <a:custGeom>
            <a:avLst/>
            <a:gdLst/>
            <a:ahLst/>
            <a:cxnLst/>
            <a:rect l="l" t="t" r="r" b="b"/>
            <a:pathLst>
              <a:path w="748008" h="748008">
                <a:moveTo>
                  <a:pt x="0" y="0"/>
                </a:moveTo>
                <a:lnTo>
                  <a:pt x="748008" y="0"/>
                </a:lnTo>
                <a:lnTo>
                  <a:pt x="748008" y="748007"/>
                </a:lnTo>
                <a:lnTo>
                  <a:pt x="0" y="7480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632" b="-63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69166" y="4243988"/>
            <a:ext cx="3520230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Google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69166" y="4787208"/>
            <a:ext cx="6787753" cy="1062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Infraestrutura de busca e operações internas utilizam Python extensivamente.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330928" y="4272563"/>
            <a:ext cx="748008" cy="748008"/>
          </a:xfrm>
          <a:custGeom>
            <a:avLst/>
            <a:gdLst/>
            <a:ahLst/>
            <a:cxnLst/>
            <a:rect l="l" t="t" r="r" b="b"/>
            <a:pathLst>
              <a:path w="748008" h="748008">
                <a:moveTo>
                  <a:pt x="0" y="0"/>
                </a:moveTo>
                <a:lnTo>
                  <a:pt x="748008" y="0"/>
                </a:lnTo>
                <a:lnTo>
                  <a:pt x="748008" y="748007"/>
                </a:lnTo>
                <a:lnTo>
                  <a:pt x="0" y="748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452945" y="4243988"/>
            <a:ext cx="3520230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Disney e ILM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52945" y="4787208"/>
            <a:ext cx="6787906" cy="1062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Computação gráfica e efeitos visuais em produções cinematográficas.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047150" y="6447977"/>
            <a:ext cx="748008" cy="748008"/>
          </a:xfrm>
          <a:custGeom>
            <a:avLst/>
            <a:gdLst/>
            <a:ahLst/>
            <a:cxnLst/>
            <a:rect l="l" t="t" r="r" b="b"/>
            <a:pathLst>
              <a:path w="748008" h="748008">
                <a:moveTo>
                  <a:pt x="0" y="0"/>
                </a:moveTo>
                <a:lnTo>
                  <a:pt x="748008" y="0"/>
                </a:lnTo>
                <a:lnTo>
                  <a:pt x="748008" y="748008"/>
                </a:lnTo>
                <a:lnTo>
                  <a:pt x="0" y="748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0760" b="-1075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169166" y="6419402"/>
            <a:ext cx="3520230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Spotify e Netflix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69166" y="6962623"/>
            <a:ext cx="6787753" cy="1062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Análise de dados, algoritmos de recomendação e backend de serviços.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30928" y="6447977"/>
            <a:ext cx="748008" cy="748008"/>
          </a:xfrm>
          <a:custGeom>
            <a:avLst/>
            <a:gdLst/>
            <a:ahLst/>
            <a:cxnLst/>
            <a:rect l="l" t="t" r="r" b="b"/>
            <a:pathLst>
              <a:path w="748008" h="748008">
                <a:moveTo>
                  <a:pt x="0" y="0"/>
                </a:moveTo>
                <a:lnTo>
                  <a:pt x="748008" y="0"/>
                </a:lnTo>
                <a:lnTo>
                  <a:pt x="748008" y="748008"/>
                </a:lnTo>
                <a:lnTo>
                  <a:pt x="0" y="748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062" r="-5064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452945" y="6419402"/>
            <a:ext cx="3520230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Dropbox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52945" y="6962623"/>
            <a:ext cx="6787906" cy="1062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Aplicação desktop e sistemas de sincronização foram criados em Python.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5E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6334" y="1282008"/>
            <a:ext cx="7074846" cy="827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Você Sabia?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032161" y="2705395"/>
            <a:ext cx="598589" cy="598589"/>
            <a:chOff x="0" y="0"/>
            <a:chExt cx="798119" cy="7981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98068" cy="798068"/>
            </a:xfrm>
            <a:custGeom>
              <a:avLst/>
              <a:gdLst/>
              <a:ahLst/>
              <a:cxnLst/>
              <a:rect l="l" t="t" r="r" b="b"/>
              <a:pathLst>
                <a:path w="798068" h="798068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649097" y="0"/>
                  </a:lnTo>
                  <a:cubicBezTo>
                    <a:pt x="731393" y="0"/>
                    <a:pt x="798068" y="66675"/>
                    <a:pt x="798068" y="148971"/>
                  </a:cubicBezTo>
                  <a:lnTo>
                    <a:pt x="798068" y="649097"/>
                  </a:lnTo>
                  <a:cubicBezTo>
                    <a:pt x="798068" y="731393"/>
                    <a:pt x="731393" y="798068"/>
                    <a:pt x="649097" y="798068"/>
                  </a:cubicBezTo>
                  <a:lnTo>
                    <a:pt x="148971" y="798068"/>
                  </a:lnTo>
                  <a:cubicBezTo>
                    <a:pt x="66675" y="798068"/>
                    <a:pt x="0" y="731393"/>
                    <a:pt x="0" y="649097"/>
                  </a:cubicBezTo>
                  <a:close/>
                </a:path>
              </a:pathLst>
            </a:custGeom>
            <a:solidFill>
              <a:srgbClr val="FAF5EB"/>
            </a:solidFill>
            <a:ln w="9526" cap="sq">
              <a:solidFill>
                <a:srgbClr val="D5CDBE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146680" y="2773709"/>
            <a:ext cx="369541" cy="461962"/>
            <a:chOff x="0" y="0"/>
            <a:chExt cx="492722" cy="6159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2720" cy="615949"/>
            </a:xfrm>
            <a:custGeom>
              <a:avLst/>
              <a:gdLst/>
              <a:ahLst/>
              <a:cxnLst/>
              <a:rect l="l" t="t" r="r" b="b"/>
              <a:pathLst>
                <a:path w="492720" h="615949">
                  <a:moveTo>
                    <a:pt x="0" y="0"/>
                  </a:moveTo>
                  <a:lnTo>
                    <a:pt x="492720" y="0"/>
                  </a:lnTo>
                  <a:lnTo>
                    <a:pt x="492720" y="615949"/>
                  </a:lnTo>
                  <a:lnTo>
                    <a:pt x="0" y="6159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2" r="-11039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492722" cy="625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900">
                  <a:solidFill>
                    <a:srgbClr val="2B3541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855026" y="2781005"/>
            <a:ext cx="3750021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O Nome Vem da Comédia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55026" y="3347447"/>
            <a:ext cx="4526013" cy="124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Python foi batizado em homenagem ao grupo britânico </a:t>
            </a:r>
            <a:r>
              <a:rPr lang="en-US" sz="20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Monty Python</a:t>
            </a:r>
            <a:r>
              <a:rPr lang="en-US" sz="20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, não à cobra.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032161" y="5045269"/>
            <a:ext cx="598589" cy="598589"/>
            <a:chOff x="0" y="0"/>
            <a:chExt cx="798119" cy="7981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98068" cy="798068"/>
            </a:xfrm>
            <a:custGeom>
              <a:avLst/>
              <a:gdLst/>
              <a:ahLst/>
              <a:cxnLst/>
              <a:rect l="l" t="t" r="r" b="b"/>
              <a:pathLst>
                <a:path w="798068" h="798068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649097" y="0"/>
                  </a:lnTo>
                  <a:cubicBezTo>
                    <a:pt x="731393" y="0"/>
                    <a:pt x="798068" y="66675"/>
                    <a:pt x="798068" y="148971"/>
                  </a:cubicBezTo>
                  <a:lnTo>
                    <a:pt x="798068" y="649097"/>
                  </a:lnTo>
                  <a:cubicBezTo>
                    <a:pt x="798068" y="731393"/>
                    <a:pt x="731393" y="798068"/>
                    <a:pt x="649097" y="798068"/>
                  </a:cubicBezTo>
                  <a:lnTo>
                    <a:pt x="148971" y="798068"/>
                  </a:lnTo>
                  <a:cubicBezTo>
                    <a:pt x="66675" y="798068"/>
                    <a:pt x="0" y="731393"/>
                    <a:pt x="0" y="649097"/>
                  </a:cubicBezTo>
                  <a:close/>
                </a:path>
              </a:pathLst>
            </a:custGeom>
            <a:solidFill>
              <a:srgbClr val="FAF5EB"/>
            </a:solidFill>
            <a:ln w="9526" cap="sq">
              <a:solidFill>
                <a:srgbClr val="D5CDBE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2146680" y="5113582"/>
            <a:ext cx="369541" cy="461962"/>
            <a:chOff x="0" y="0"/>
            <a:chExt cx="492722" cy="6159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2720" cy="615949"/>
            </a:xfrm>
            <a:custGeom>
              <a:avLst/>
              <a:gdLst/>
              <a:ahLst/>
              <a:cxnLst/>
              <a:rect l="l" t="t" r="r" b="b"/>
              <a:pathLst>
                <a:path w="492720" h="615949">
                  <a:moveTo>
                    <a:pt x="0" y="0"/>
                  </a:moveTo>
                  <a:lnTo>
                    <a:pt x="492720" y="0"/>
                  </a:lnTo>
                  <a:lnTo>
                    <a:pt x="492720" y="615949"/>
                  </a:lnTo>
                  <a:lnTo>
                    <a:pt x="0" y="6159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2" r="-11039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492722" cy="625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900">
                  <a:solidFill>
                    <a:srgbClr val="2B3541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855026" y="5120878"/>
            <a:ext cx="3288659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O Ditador Benevolente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55026" y="5687320"/>
            <a:ext cx="4526013" cy="124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Guido van Rossum foi o </a:t>
            </a:r>
            <a:r>
              <a:rPr lang="en-US" sz="20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BDFL</a:t>
            </a:r>
            <a:r>
              <a:rPr lang="en-US" sz="20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(Benevolent Dictator For Life) do Python por décadas.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032161" y="7385152"/>
            <a:ext cx="598589" cy="598589"/>
            <a:chOff x="0" y="0"/>
            <a:chExt cx="798119" cy="7981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98068" cy="798068"/>
            </a:xfrm>
            <a:custGeom>
              <a:avLst/>
              <a:gdLst/>
              <a:ahLst/>
              <a:cxnLst/>
              <a:rect l="l" t="t" r="r" b="b"/>
              <a:pathLst>
                <a:path w="798068" h="798068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649097" y="0"/>
                  </a:lnTo>
                  <a:cubicBezTo>
                    <a:pt x="731393" y="0"/>
                    <a:pt x="798068" y="66675"/>
                    <a:pt x="798068" y="148971"/>
                  </a:cubicBezTo>
                  <a:lnTo>
                    <a:pt x="798068" y="649097"/>
                  </a:lnTo>
                  <a:cubicBezTo>
                    <a:pt x="798068" y="731393"/>
                    <a:pt x="731393" y="798068"/>
                    <a:pt x="649097" y="798068"/>
                  </a:cubicBezTo>
                  <a:lnTo>
                    <a:pt x="148971" y="798068"/>
                  </a:lnTo>
                  <a:cubicBezTo>
                    <a:pt x="66675" y="798068"/>
                    <a:pt x="0" y="731393"/>
                    <a:pt x="0" y="649097"/>
                  </a:cubicBezTo>
                  <a:close/>
                </a:path>
              </a:pathLst>
            </a:custGeom>
            <a:solidFill>
              <a:srgbClr val="FAF5EB"/>
            </a:solidFill>
            <a:ln w="9526" cap="sq">
              <a:solidFill>
                <a:srgbClr val="D5CDBE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2146680" y="7453465"/>
            <a:ext cx="369541" cy="461962"/>
            <a:chOff x="0" y="0"/>
            <a:chExt cx="492722" cy="6159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92720" cy="615949"/>
            </a:xfrm>
            <a:custGeom>
              <a:avLst/>
              <a:gdLst/>
              <a:ahLst/>
              <a:cxnLst/>
              <a:rect l="l" t="t" r="r" b="b"/>
              <a:pathLst>
                <a:path w="492720" h="615949">
                  <a:moveTo>
                    <a:pt x="0" y="0"/>
                  </a:moveTo>
                  <a:lnTo>
                    <a:pt x="492720" y="0"/>
                  </a:lnTo>
                  <a:lnTo>
                    <a:pt x="492720" y="615949"/>
                  </a:lnTo>
                  <a:lnTo>
                    <a:pt x="0" y="6159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2" r="-110392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492722" cy="625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900">
                  <a:solidFill>
                    <a:srgbClr val="2B3541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855026" y="7460752"/>
            <a:ext cx="3080147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Topo do Ranking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55026" y="8027194"/>
            <a:ext cx="4526013" cy="124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Python lidera consistentemente o </a:t>
            </a:r>
            <a:r>
              <a:rPr lang="en-US" sz="20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TIOBE Index</a:t>
            </a:r>
            <a:r>
              <a:rPr lang="en-US" sz="20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e o índice da IEEE como a linguagem mais popular.</a:t>
            </a:r>
          </a:p>
        </p:txBody>
      </p:sp>
      <p:pic>
        <p:nvPicPr>
          <p:cNvPr id="2054" name="Picture 6" descr="Por dentro da volta do Monty Python - Jornal O Globo">
            <a:extLst>
              <a:ext uri="{FF2B5EF4-FFF2-40B4-BE49-F238E27FC236}">
                <a16:creationId xmlns:a16="http://schemas.microsoft.com/office/drawing/2014/main" id="{6810B476-29FD-8B0E-8709-BCDE608EB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42" y="2794692"/>
            <a:ext cx="10344150" cy="621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5E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3603127" y="875671"/>
            <a:ext cx="6524777" cy="73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051D3A"/>
                </a:solidFill>
                <a:latin typeface="Arimo"/>
                <a:ea typeface="Arimo"/>
                <a:cs typeface="Arimo"/>
                <a:sym typeface="Arimo"/>
              </a:rPr>
              <a:t>Nossa Equipe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21224" y="1760544"/>
            <a:ext cx="10595524" cy="39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Cada integrante contribuiu com uma parte essencial deste estudo sobre Python.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3621214" y="2198885"/>
            <a:ext cx="9761039" cy="1683839"/>
          </a:xfrm>
          <a:custGeom>
            <a:avLst/>
            <a:gdLst/>
            <a:ahLst/>
            <a:cxnLst/>
            <a:rect l="l" t="t" r="r" b="b"/>
            <a:pathLst>
              <a:path w="9761039" h="1683839">
                <a:moveTo>
                  <a:pt x="0" y="0"/>
                </a:moveTo>
                <a:lnTo>
                  <a:pt x="9761039" y="0"/>
                </a:lnTo>
                <a:lnTo>
                  <a:pt x="9761039" y="1683839"/>
                </a:lnTo>
                <a:lnTo>
                  <a:pt x="0" y="1683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0" b="-5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91210" y="2325291"/>
            <a:ext cx="2925956" cy="379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22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Gabriel Meira F.S Lima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74938" y="2914355"/>
            <a:ext cx="8321878" cy="74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Pesquisou a </a:t>
            </a:r>
            <a:r>
              <a:rPr lang="en-US" sz="18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história</a:t>
            </a: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do Python e mapeou suas principais </a:t>
            </a:r>
            <a:r>
              <a:rPr lang="en-US" sz="18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áreas de aplicação</a:t>
            </a: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no mercado.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3621224" y="4135936"/>
            <a:ext cx="9761039" cy="1683839"/>
          </a:xfrm>
          <a:custGeom>
            <a:avLst/>
            <a:gdLst/>
            <a:ahLst/>
            <a:cxnLst/>
            <a:rect l="l" t="t" r="r" b="b"/>
            <a:pathLst>
              <a:path w="9761039" h="1683839">
                <a:moveTo>
                  <a:pt x="0" y="0"/>
                </a:moveTo>
                <a:lnTo>
                  <a:pt x="9761039" y="0"/>
                </a:lnTo>
                <a:lnTo>
                  <a:pt x="9761039" y="1683839"/>
                </a:lnTo>
                <a:lnTo>
                  <a:pt x="0" y="1683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0" b="-51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891210" y="4245245"/>
            <a:ext cx="2805112" cy="379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Miguel Basílio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74928" y="4849511"/>
            <a:ext cx="8321878" cy="74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Investigou a trajetória do </a:t>
            </a:r>
            <a:r>
              <a:rPr lang="en-US" sz="18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criador</a:t>
            </a: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e analisou as </a:t>
            </a:r>
            <a:r>
              <a:rPr lang="en-US" sz="18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vantagens e desvantagens</a:t>
            </a: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da linguagem.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3621224" y="6032306"/>
            <a:ext cx="9761039" cy="1683839"/>
          </a:xfrm>
          <a:custGeom>
            <a:avLst/>
            <a:gdLst/>
            <a:ahLst/>
            <a:cxnLst/>
            <a:rect l="l" t="t" r="r" b="b"/>
            <a:pathLst>
              <a:path w="9761039" h="1683839">
                <a:moveTo>
                  <a:pt x="0" y="0"/>
                </a:moveTo>
                <a:lnTo>
                  <a:pt x="9761039" y="0"/>
                </a:lnTo>
                <a:lnTo>
                  <a:pt x="9761039" y="1683839"/>
                </a:lnTo>
                <a:lnTo>
                  <a:pt x="0" y="1683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0" b="-51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835451" y="6213539"/>
            <a:ext cx="2805112" cy="379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João Victor Araújo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74938" y="6837493"/>
            <a:ext cx="8321878" cy="74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Levantou as </a:t>
            </a:r>
            <a:r>
              <a:rPr lang="en-US" sz="18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principais características</a:t>
            </a: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técnicas e identificou </a:t>
            </a:r>
            <a:r>
              <a:rPr lang="en-US" sz="18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empresas</a:t>
            </a: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que utilizam Python.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3621214" y="7960519"/>
            <a:ext cx="9761039" cy="1683839"/>
          </a:xfrm>
          <a:custGeom>
            <a:avLst/>
            <a:gdLst/>
            <a:ahLst/>
            <a:cxnLst/>
            <a:rect l="l" t="t" r="r" b="b"/>
            <a:pathLst>
              <a:path w="9761039" h="1683839">
                <a:moveTo>
                  <a:pt x="0" y="0"/>
                </a:moveTo>
                <a:lnTo>
                  <a:pt x="9761040" y="0"/>
                </a:lnTo>
                <a:lnTo>
                  <a:pt x="9761040" y="1683839"/>
                </a:lnTo>
                <a:lnTo>
                  <a:pt x="0" y="1683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0" b="-51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891210" y="8062979"/>
            <a:ext cx="2805112" cy="379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Rafael B. Sousa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74928" y="8593264"/>
            <a:ext cx="8321878" cy="74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Coletou </a:t>
            </a:r>
            <a:r>
              <a:rPr lang="en-US" sz="18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curiosidades</a:t>
            </a: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sobre a linguagem e elaborou os </a:t>
            </a:r>
            <a:r>
              <a:rPr lang="en-US" sz="1800" b="1">
                <a:solidFill>
                  <a:srgbClr val="2B3541"/>
                </a:solidFill>
                <a:latin typeface="Arimo Bold"/>
                <a:ea typeface="Arimo Bold"/>
                <a:cs typeface="Arimo Bold"/>
                <a:sym typeface="Arimo Bold"/>
              </a:rPr>
              <a:t>exemplos de código</a:t>
            </a:r>
            <a:r>
              <a:rPr lang="en-US" sz="1800">
                <a:solidFill>
                  <a:srgbClr val="2B3541"/>
                </a:solidFill>
                <a:latin typeface="Arimo"/>
                <a:ea typeface="Arimo"/>
                <a:cs typeface="Arimo"/>
                <a:sym typeface="Arimo"/>
              </a:rPr>
              <a:t> apresentados.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604</Words>
  <Application>Microsoft Office PowerPoint</Application>
  <PresentationFormat>Personalizar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Arimo Italics</vt:lpstr>
      <vt:lpstr>Arial</vt:lpstr>
      <vt:lpstr>Consolas</vt:lpstr>
      <vt:lpstr>Arimo Bold</vt:lpstr>
      <vt:lpstr>Arimo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Projeto_GM.pptx</dc:title>
  <cp:lastModifiedBy>Gabriel Meira</cp:lastModifiedBy>
  <cp:revision>3</cp:revision>
  <dcterms:created xsi:type="dcterms:W3CDTF">2006-08-16T00:00:00Z</dcterms:created>
  <dcterms:modified xsi:type="dcterms:W3CDTF">2026-05-28T19:40:11Z</dcterms:modified>
  <dc:identifier>DAHK--0fofc</dc:identifier>
</cp:coreProperties>
</file>